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E6AA2-B29E-EF6C-EDF3-4752B8531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184F7E-6FD2-F6A9-0D8C-CC1651272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0A4E93-BF96-DC61-6D4F-95DBBB87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781220-7F3A-EF5D-AE70-412BBA80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603292-2DC7-0C4A-CF3E-3F52BDD4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92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244C6-7535-80B7-BE8A-193F3EEB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02095-A85A-0BEA-2243-901D643E3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54FC39-AD4A-D45D-56E5-24B0F83A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D01F7F-FA42-F680-060A-BAE3EFFA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3536DA-11B6-6597-510E-3B53A665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31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D4D85-BD22-6BB6-D43D-B6B6D478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7369BB-D075-0DB3-FFA8-B44FFC770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E13587-377E-12D4-C58D-C4EFA61C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6B12E6-10F7-8F2E-D193-72C62EB2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0468DD-BF01-BB9E-ADDF-BD5004D6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47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9399D-BFEE-BF10-9F5F-02CBD799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E0585F-BEBA-479E-4B31-FB8802C5C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741F7A-CFC3-136E-B5E5-9FA1BCC2F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AEE7E5-D39D-AEB9-64DE-5261A00E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2CF800-9D17-C2A6-9967-4CFCF8DC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39E629-CD79-8E81-1AFB-3D9DB008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39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EF29A-B8B6-88BF-C656-870936E1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8785C5-C5DF-4C03-B9AE-22A04EC6D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5274C4-7F7F-AE02-CDD1-DD779DDD5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6DDE95-8401-9960-28B5-44BE8A16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5F0629-9CA5-96A8-DCD7-5EE9AAFF5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2433795-6D46-38FB-B1F9-935AC229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3B75B34-3F8B-D119-3640-D49D4EBD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D9904A-373F-58D5-AB55-EFD5936A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04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AB411-72E3-20B7-2DE7-DF242C15E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BE636D-3467-09DD-5B23-1D2C4DB5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5F533F-1982-AC42-DA30-F96481DA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46951F-E288-B8BF-B046-C8C85AFE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42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B1BF2E5-269E-83C6-A7AE-DFD5A657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3DE7D8-1D2B-36E2-0CA1-D063317D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76CBB5-FF9C-F153-61F4-1A02E76E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256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3C2C1-250B-AA06-8E38-AAFDD653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ADF48-D458-7598-CE4F-9DB0AB9C4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0DCC8C-3657-ECBC-51B9-EF7D706A4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7A2202-5E18-DBAF-578F-A712C758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7E2A43-9D3E-946F-8CB8-F7509416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F60C0D-EB03-189C-7048-DADA55FC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27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7FEE8-2FE3-FCE3-DA80-BF97537C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BA9F5EC-1870-99EB-045A-FA7AF5E0B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EB9D26-33F1-A8A8-5322-CABCC7500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4A6296-4C91-B236-1C7F-D0CABE72B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36B597-098B-04A3-F730-C1C47FF5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168107-9222-B4C9-9F89-9C082C356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345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2933DA-4ACF-9CC7-B78F-79B2A38F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696B00-2C0D-B3CE-8C49-1CB4C35B4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413CEF-A8EB-DEB0-676B-271222C3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BF06C3-2146-0B64-A38C-0AA328B2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FF6499-12F2-941E-5FD0-E78B1C16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22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3CA6F57-4CB2-3508-9B16-FEE08CFDE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B2A027-B231-913E-E961-3DA21B7DF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68E71A-7B1D-DED7-85EF-538EBC81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84BB4D-A8CE-89F0-64A1-F627EE54E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7C7091-BBD9-F297-DAE8-87143D73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38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A9A2C-761D-3603-5E36-854AB2F89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C75685-1BC8-2D47-2910-842520285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D5DBCA-06C8-5F15-E866-BCC4CD5FC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EA1F0-788B-46E5-B5AF-16FB481C477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A250BF-368B-E876-5124-435C7143C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7CD3E5-CE17-0CD5-93D5-64FFDD085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16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C674749-E2B6-3734-6EA4-7FD6727C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990600"/>
            <a:ext cx="5359400" cy="4019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6E8326-63AA-D547-5693-0758E04C9CA9}"/>
              </a:ext>
            </a:extLst>
          </p:cNvPr>
          <p:cNvSpPr txBox="1"/>
          <p:nvPr/>
        </p:nvSpPr>
        <p:spPr>
          <a:xfrm>
            <a:off x="6329432" y="2030879"/>
            <a:ext cx="20956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070C0"/>
                </a:solidFill>
              </a:rPr>
              <a:t>САНЯ</a:t>
            </a:r>
            <a:endParaRPr lang="ru-RU" sz="6000" dirty="0">
              <a:solidFill>
                <a:srgbClr val="FFFF00"/>
              </a:solidFill>
            </a:endParaRPr>
          </a:p>
          <a:p>
            <a:r>
              <a:rPr lang="ru-RU" sz="6000" dirty="0">
                <a:solidFill>
                  <a:srgbClr val="FFFF00"/>
                </a:solidFill>
              </a:rPr>
              <a:t>МАКС</a:t>
            </a:r>
          </a:p>
        </p:txBody>
      </p:sp>
    </p:spTree>
    <p:extLst>
      <p:ext uri="{BB962C8B-B14F-4D97-AF65-F5344CB8AC3E}">
        <p14:creationId xmlns:p14="http://schemas.microsoft.com/office/powerpoint/2010/main" val="1670923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A7714-D329-CD57-31B4-0D5DACE8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9 ЧИП И ДЕЙЛОВ">
            <a:hlinkClick r:id="" action="ppaction://media"/>
            <a:extLst>
              <a:ext uri="{FF2B5EF4-FFF2-40B4-BE49-F238E27FC236}">
                <a16:creationId xmlns:a16="http://schemas.microsoft.com/office/drawing/2014/main" id="{6835AEEE-9A21-13BD-8CDC-9387EE924438}"/>
              </a:ext>
            </a:extLst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695700"/>
            <a:ext cx="609600" cy="609600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3BD2A0-890C-DFBC-0D06-8FAFA9C48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365125"/>
            <a:ext cx="9144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03C91-3E12-FE8C-27A2-BB5287C0DB1C}"/>
              </a:ext>
            </a:extLst>
          </p:cNvPr>
          <p:cNvSpPr txBox="1"/>
          <p:nvPr/>
        </p:nvSpPr>
        <p:spPr>
          <a:xfrm>
            <a:off x="212437" y="1764605"/>
            <a:ext cx="396239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Рекурсия в широком смысле — это когда что-то определяет, создаёт или вызывает само себя (часто через более простую версию себя).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3BBCD2-D106-4538-05AA-04B689586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963" y="4076699"/>
            <a:ext cx="609601" cy="4572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7821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0A7E4-1FFE-3F7E-6445-85D056D4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356252A-DD21-AF4A-8F6D-55110DFCD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601" y="328180"/>
            <a:ext cx="5896798" cy="62016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AE6BE158-B650-B0AE-F261-C3113A6CC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567276" y="1446934"/>
            <a:ext cx="4137447" cy="43513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07F6AF2-B3AA-0AE5-CDF3-655AB036E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58" y="2228274"/>
            <a:ext cx="2807881" cy="29530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D4601B6-37D7-B872-7AAE-BC5B05245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647" y="2494974"/>
            <a:ext cx="2300701" cy="24196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2589F49-548C-A454-B1BA-9BC83D92629B}"/>
              </a:ext>
            </a:extLst>
          </p:cNvPr>
          <p:cNvSpPr txBox="1"/>
          <p:nvPr/>
        </p:nvSpPr>
        <p:spPr>
          <a:xfrm>
            <a:off x="138885" y="1958262"/>
            <a:ext cx="546758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Рекурсия в широком смысле — это когда что-то определяет, создаёт или вызывает само себя (часто через более простую версию себя).</a:t>
            </a:r>
          </a:p>
        </p:txBody>
      </p:sp>
    </p:spTree>
    <p:extLst>
      <p:ext uri="{BB962C8B-B14F-4D97-AF65-F5344CB8AC3E}">
        <p14:creationId xmlns:p14="http://schemas.microsoft.com/office/powerpoint/2010/main" val="345365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3FB89-ADBC-8C9A-B0CD-0FEA465C7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AutoShape 2" descr="Picture background">
            <a:extLst>
              <a:ext uri="{FF2B5EF4-FFF2-40B4-BE49-F238E27FC236}">
                <a16:creationId xmlns:a16="http://schemas.microsoft.com/office/drawing/2014/main" id="{00A6BD3A-D38C-D328-454B-FDDCE5FD49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C13B8709-E6FC-CE2A-FAEE-ACBEF27AE7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21" y="1483879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DBCBF1-014E-6447-D3EE-08654F39385D}"/>
              </a:ext>
            </a:extLst>
          </p:cNvPr>
          <p:cNvSpPr txBox="1"/>
          <p:nvPr/>
        </p:nvSpPr>
        <p:spPr>
          <a:xfrm>
            <a:off x="5163127" y="237795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Рекурсия в широком смысле — это когда что-то определяет, создаёт или вызывает само себя (часто через более простую версию себя).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ЖОПНЫЙ ЭЛЬФ</a:t>
            </a:r>
          </a:p>
        </p:txBody>
      </p:sp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14D14444-5042-F965-0302-F37BF63BA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272" y="2511930"/>
            <a:ext cx="2295236" cy="229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icture background">
            <a:extLst>
              <a:ext uri="{FF2B5EF4-FFF2-40B4-BE49-F238E27FC236}">
                <a16:creationId xmlns:a16="http://schemas.microsoft.com/office/drawing/2014/main" id="{BCE85E95-4B75-6EC5-030F-C91A375C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467" y="2905125"/>
            <a:ext cx="1508846" cy="150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70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C524B-8C9F-316C-5BDD-FC8EBEC8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РЕКУРСИИ В РЕАЛЬНОЙ ЖИЗНИ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E873FBC-1996-F985-39C3-E5242BE7F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799" y="1622425"/>
            <a:ext cx="7735712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2B9F56-5858-79A6-10A2-DB5A4026704A}"/>
              </a:ext>
            </a:extLst>
          </p:cNvPr>
          <p:cNvSpPr txBox="1"/>
          <p:nvPr/>
        </p:nvSpPr>
        <p:spPr>
          <a:xfrm>
            <a:off x="8150065" y="1674435"/>
            <a:ext cx="30501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СТАРИНА</a:t>
            </a:r>
          </a:p>
          <a:p>
            <a:r>
              <a:rPr lang="ru-RU" dirty="0"/>
              <a:t> В </a:t>
            </a:r>
          </a:p>
          <a:p>
            <a:r>
              <a:rPr lang="ru-RU" dirty="0"/>
              <a:t>СТАРИНЕ </a:t>
            </a:r>
          </a:p>
          <a:p>
            <a:r>
              <a:rPr lang="ru-RU" dirty="0"/>
              <a:t>КОТОРЫЙ</a:t>
            </a:r>
          </a:p>
          <a:p>
            <a:r>
              <a:rPr lang="ru-RU" dirty="0"/>
              <a:t>В</a:t>
            </a:r>
          </a:p>
          <a:p>
            <a:r>
              <a:rPr lang="ru-RU" dirty="0"/>
              <a:t> СТАРИНЕ</a:t>
            </a:r>
          </a:p>
          <a:p>
            <a:r>
              <a:rPr lang="ru-RU" dirty="0"/>
              <a:t> КОТОРЫЙ</a:t>
            </a:r>
          </a:p>
          <a:p>
            <a:r>
              <a:rPr lang="ru-RU" dirty="0"/>
              <a:t> В\</a:t>
            </a:r>
          </a:p>
          <a:p>
            <a:r>
              <a:rPr lang="ru-RU" dirty="0"/>
              <a:t> СТАРИНЕ</a:t>
            </a:r>
          </a:p>
          <a:p>
            <a:r>
              <a:rPr lang="ru-RU" dirty="0"/>
              <a:t>СМОТРИТ</a:t>
            </a:r>
          </a:p>
          <a:p>
            <a:r>
              <a:rPr lang="ru-RU" dirty="0"/>
              <a:t> НА</a:t>
            </a:r>
          </a:p>
          <a:p>
            <a:r>
              <a:rPr lang="ru-RU" dirty="0"/>
              <a:t>\ СТАРИНУ</a:t>
            </a:r>
          </a:p>
          <a:p>
            <a:r>
              <a:rPr lang="ru-RU" dirty="0"/>
              <a:t> ИГРАЕТ</a:t>
            </a:r>
          </a:p>
          <a:p>
            <a:r>
              <a:rPr lang="ru-RU" dirty="0"/>
              <a:t> В</a:t>
            </a:r>
          </a:p>
          <a:p>
            <a:r>
              <a:rPr lang="ru-RU" dirty="0"/>
              <a:t> СТАРИНУ</a:t>
            </a:r>
          </a:p>
        </p:txBody>
      </p:sp>
    </p:spTree>
    <p:extLst>
      <p:ext uri="{BB962C8B-B14F-4D97-AF65-F5344CB8AC3E}">
        <p14:creationId xmlns:p14="http://schemas.microsoft.com/office/powerpoint/2010/main" val="370421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9DE59-51DA-4B04-4EE4-ACC160BB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МАТРШКА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ECCBA39-235D-FDA9-7BB2-E468156985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42" y="1557770"/>
            <a:ext cx="460459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058BA5-9DF8-4A80-09B9-DD993178FF2C}"/>
              </a:ext>
            </a:extLst>
          </p:cNvPr>
          <p:cNvSpPr txBox="1"/>
          <p:nvPr/>
        </p:nvSpPr>
        <p:spPr>
          <a:xfrm>
            <a:off x="6862618" y="2410691"/>
            <a:ext cx="20146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 Каждая матрёшка содержит внутри себя подобную ей, но меньшую матрёшку.</a:t>
            </a:r>
          </a:p>
        </p:txBody>
      </p:sp>
    </p:spTree>
    <p:extLst>
      <p:ext uri="{BB962C8B-B14F-4D97-AF65-F5344CB8AC3E}">
        <p14:creationId xmlns:p14="http://schemas.microsoft.com/office/powerpoint/2010/main" val="145753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0F4A8-03A8-7DEB-5E4F-C36A1238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ЗЕРКАЛА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AAA70148-0F2A-A95F-213B-728AB505D7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62" y="1690688"/>
            <a:ext cx="652382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2E24B1-7D83-6DC7-149E-ECF958EF37A3}"/>
              </a:ext>
            </a:extLst>
          </p:cNvPr>
          <p:cNvSpPr txBox="1"/>
          <p:nvPr/>
        </p:nvSpPr>
        <p:spPr>
          <a:xfrm>
            <a:off x="7148946" y="1690688"/>
            <a:ext cx="33358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 Когда два зеркала расположены параллельно, возникает бесконечная последовательность отражений. Каждое отражение содержит внутри себя отражение двух зеркал, которое, в свою очередь, содержит следующее отражение и так далее.</a:t>
            </a:r>
          </a:p>
        </p:txBody>
      </p:sp>
    </p:spTree>
    <p:extLst>
      <p:ext uri="{BB962C8B-B14F-4D97-AF65-F5344CB8AC3E}">
        <p14:creationId xmlns:p14="http://schemas.microsoft.com/office/powerpoint/2010/main" val="407152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F30F7-6FE2-5B8E-5B54-A13316E1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РЕКУРСИВАНЯ АЛГОРИМАША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DB4BBB-B324-6BDD-2CEF-C77B5017D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Рекурсивный алгоритм</a:t>
            </a:r>
            <a:r>
              <a:rPr lang="ru-RU" dirty="0"/>
              <a:t> — это алгоритм, который в процессе своего выполнения прямо (прямая рекурсия) или косвенно (косвенная рекурсия, когда функция A вызывает функцию B, а B вызывает A) </a:t>
            </a:r>
            <a:r>
              <a:rPr lang="ru-RU" b="1" dirty="0"/>
              <a:t>вызывает сам себя</a:t>
            </a:r>
            <a:r>
              <a:rPr lang="ru-RU" dirty="0"/>
              <a:t> для решения задачи.</a:t>
            </a:r>
          </a:p>
          <a:p>
            <a:r>
              <a:rPr lang="ru-RU" dirty="0"/>
              <a:t>Главная идея заключается в том, чтобы разбить сложную задачу на одну или несколько более простых подзадач </a:t>
            </a:r>
            <a:r>
              <a:rPr lang="ru-RU" b="1" dirty="0"/>
              <a:t>того же типа</a:t>
            </a:r>
            <a:r>
              <a:rPr lang="ru-RU" dirty="0"/>
              <a:t>, решить их тем же самым методом, а затем скомбинировать результаты.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52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0F072-E4B8-9E70-457D-9C073D21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РЕКРСИВАНЯ ТРИАДА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D59B0-E75E-4250-2906-967953705314}"/>
              </a:ext>
            </a:extLst>
          </p:cNvPr>
          <p:cNvSpPr txBox="1"/>
          <p:nvPr/>
        </p:nvSpPr>
        <p:spPr>
          <a:xfrm>
            <a:off x="6030048" y="1887827"/>
            <a:ext cx="6096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Рекурсивная триада (Рекурсивная тройка)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концептуальная модель, описывающая три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обязательных и взаимосвязанных компонента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любого корректного рекурсивного алгоритма. Без любого из этих компонентов рекурсия либо не будет работать, либо войдёт в бесконечный цикл.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Триада представляет собой схему или шаблон для построения и анализа рекурсии.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86F68C-17B6-F084-745B-0C0C58DEC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149"/>
            <a:ext cx="10515600" cy="4351338"/>
          </a:xfrm>
        </p:spPr>
        <p:txBody>
          <a:bodyPr/>
          <a:lstStyle/>
          <a:p>
            <a:r>
              <a:rPr lang="ru-RU" dirty="0"/>
              <a:t>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C498CB-45B8-D989-1DF4-53ECD4299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91" y="1690688"/>
            <a:ext cx="5191848" cy="357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91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F51F5-3D6D-7A3C-B242-288CFB1A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ПОЛНОЕ ДРЕВО РЕКУРСИИ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758605-C623-7731-0CEC-2D2D74B0D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64" y="1690688"/>
            <a:ext cx="6153727" cy="4351338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Полное дерево рекурсии</a:t>
            </a:r>
            <a:r>
              <a:rPr lang="ru-RU" dirty="0"/>
              <a:t> — это графическое представление всех рекурсивных вызовов алгоритма в виде дерева.</a:t>
            </a:r>
          </a:p>
          <a:p>
            <a:r>
              <a:rPr lang="ru-RU" b="1" dirty="0"/>
              <a:t>Корень дерева</a:t>
            </a:r>
            <a:r>
              <a:rPr lang="ru-RU" dirty="0"/>
              <a:t> — исходный вызов функции с начальными данными.</a:t>
            </a:r>
          </a:p>
          <a:p>
            <a:r>
              <a:rPr lang="ru-RU" b="1" dirty="0"/>
              <a:t>Внутренние узлы (вершины)</a:t>
            </a:r>
            <a:r>
              <a:rPr lang="ru-RU" dirty="0"/>
              <a:t> — каждый рекурсивный вызов функции.</a:t>
            </a:r>
          </a:p>
          <a:p>
            <a:r>
              <a:rPr lang="ru-RU" b="1" dirty="0"/>
              <a:t>Листья (терминальные узлы)</a:t>
            </a:r>
            <a:r>
              <a:rPr lang="ru-RU" dirty="0"/>
              <a:t> — вызовы, достигшие </a:t>
            </a:r>
            <a:r>
              <a:rPr lang="ru-RU" b="1" dirty="0"/>
              <a:t>базового случая</a:t>
            </a:r>
            <a:r>
              <a:rPr lang="ru-RU" dirty="0"/>
              <a:t> и не выполняющие дальнейших рекурсивных вызовов.</a:t>
            </a:r>
          </a:p>
          <a:p>
            <a:r>
              <a:rPr lang="ru-RU" b="1" dirty="0"/>
              <a:t>Рёбра (ветви)</a:t>
            </a:r>
            <a:r>
              <a:rPr lang="ru-RU" dirty="0"/>
              <a:t> — показывают, из какого вызова был порождён следующий.</a:t>
            </a:r>
          </a:p>
          <a:p>
            <a:endParaRPr lang="ru-RU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2CF5B3DB-336F-C46E-DEB6-4BB37FF2B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202" y="1528762"/>
            <a:ext cx="474345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800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00040-D253-6B22-4AB4-C61A2E37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09" y="378690"/>
            <a:ext cx="11353800" cy="1182688"/>
          </a:xfrm>
        </p:spPr>
        <p:txBody>
          <a:bodyPr>
            <a:normAutofit fontScale="90000"/>
          </a:bodyPr>
          <a:lstStyle/>
          <a:p>
            <a:r>
              <a:rPr lang="ru-RU" dirty="0"/>
              <a:t>7.Как называется область памяти, выделяемая для хранения всех промежуточных значений локальных переменных? Опишите ее.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1F21F4-4B5B-B2D3-9DC5-8EC7D134E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Стек вызовов (</a:t>
            </a:r>
            <a:r>
              <a:rPr lang="ru-RU" b="1" dirty="0" err="1"/>
              <a:t>call</a:t>
            </a:r>
            <a:r>
              <a:rPr lang="ru-RU" b="1" dirty="0"/>
              <a:t> </a:t>
            </a:r>
            <a:r>
              <a:rPr lang="ru-RU" b="1" dirty="0" err="1"/>
              <a:t>stack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r>
              <a:rPr lang="ru-RU" dirty="0"/>
              <a:t>Это область памяти, работающая по принципу </a:t>
            </a:r>
            <a:r>
              <a:rPr lang="ru-RU" b="1" dirty="0"/>
              <a:t>LIFO</a:t>
            </a:r>
            <a:r>
              <a:rPr lang="ru-RU" dirty="0"/>
              <a:t> (последним пришёл — первым ушёл). Для каждой вызываемой функции в стеке создаётся </a:t>
            </a:r>
            <a:r>
              <a:rPr lang="ru-RU" b="1" dirty="0"/>
              <a:t>кадр стека</a:t>
            </a:r>
            <a:r>
              <a:rPr lang="ru-RU" dirty="0"/>
              <a:t> (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frame</a:t>
            </a:r>
            <a:r>
              <a:rPr lang="ru-RU" dirty="0"/>
              <a:t>), который содержит:</a:t>
            </a:r>
          </a:p>
          <a:p>
            <a:r>
              <a:rPr lang="ru-RU" dirty="0"/>
              <a:t>Локальные переменные и параметры функции.</a:t>
            </a:r>
          </a:p>
          <a:p>
            <a:r>
              <a:rPr lang="ru-RU" dirty="0"/>
              <a:t>Адрес возврата к вызвавшему коду.</a:t>
            </a:r>
          </a:p>
          <a:p>
            <a:r>
              <a:rPr lang="ru-RU" dirty="0"/>
              <a:t>Служебную информацию.</a:t>
            </a:r>
          </a:p>
          <a:p>
            <a:r>
              <a:rPr lang="ru-RU" b="1" dirty="0"/>
              <a:t>Ключевые свойства:</a:t>
            </a:r>
            <a:endParaRPr lang="ru-RU" dirty="0"/>
          </a:p>
          <a:p>
            <a:r>
              <a:rPr lang="ru-RU" b="1" dirty="0"/>
              <a:t>Быстрый</a:t>
            </a:r>
            <a:r>
              <a:rPr lang="ru-RU" dirty="0"/>
              <a:t> — выделение/освобождение — это просто сдвиг указателя.</a:t>
            </a:r>
          </a:p>
          <a:p>
            <a:r>
              <a:rPr lang="ru-RU" b="1" dirty="0"/>
              <a:t>Автоматический</a:t>
            </a:r>
            <a:r>
              <a:rPr lang="ru-RU" dirty="0"/>
              <a:t> — память под локальные переменные выделяется при входе в функцию и очищается при выходе.</a:t>
            </a:r>
          </a:p>
          <a:p>
            <a:r>
              <a:rPr lang="ru-RU" b="1" dirty="0"/>
              <a:t>Ограниченный в размере</a:t>
            </a:r>
            <a:r>
              <a:rPr lang="ru-RU" dirty="0"/>
              <a:t> — при переполнении (например, глубокой рекурсией) происходит ошибка </a:t>
            </a:r>
            <a:r>
              <a:rPr lang="ru-RU" b="1" dirty="0" err="1"/>
              <a:t>stack</a:t>
            </a:r>
            <a:r>
              <a:rPr lang="ru-RU" b="1" dirty="0"/>
              <a:t> </a:t>
            </a:r>
            <a:r>
              <a:rPr lang="ru-RU" b="1" dirty="0" err="1"/>
              <a:t>overflow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668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0F3C0-CDF4-E25A-D634-68BD567F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35CF3E-0B21-B8D1-E8C4-1C74B115C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Пример рекурсивной функции:</a:t>
            </a:r>
            <a:r>
              <a:rPr lang="ru-RU" dirty="0"/>
              <a:t> Вычисление факториала числа </a:t>
            </a:r>
            <a:r>
              <a:rPr lang="en-US" dirty="0"/>
              <a:t>n.</a:t>
            </a:r>
          </a:p>
          <a:p>
            <a:r>
              <a:rPr lang="en-US" dirty="0"/>
              <a:t>python</a:t>
            </a:r>
          </a:p>
          <a:p>
            <a:pPr latinLnBrk="1"/>
            <a:r>
              <a:rPr lang="en-US" dirty="0"/>
              <a:t>def factorial(n):</a:t>
            </a:r>
          </a:p>
          <a:p>
            <a:pPr latinLnBrk="1"/>
            <a:r>
              <a:rPr lang="en-US" dirty="0"/>
              <a:t>    </a:t>
            </a:r>
            <a:r>
              <a:rPr lang="en-US" i="1" dirty="0"/>
              <a:t># </a:t>
            </a:r>
            <a:r>
              <a:rPr lang="ru-RU" i="1" dirty="0"/>
              <a:t>Базовый случай</a:t>
            </a:r>
            <a:endParaRPr lang="ru-RU" dirty="0"/>
          </a:p>
          <a:p>
            <a:pPr latinLnBrk="1"/>
            <a:r>
              <a:rPr lang="ru-RU" dirty="0"/>
              <a:t>    </a:t>
            </a:r>
            <a:r>
              <a:rPr lang="en-US" dirty="0"/>
              <a:t>if n == 0:</a:t>
            </a:r>
          </a:p>
          <a:p>
            <a:pPr latinLnBrk="1"/>
            <a:r>
              <a:rPr lang="en-US" dirty="0"/>
              <a:t>        return 1</a:t>
            </a:r>
          </a:p>
          <a:p>
            <a:pPr latinLnBrk="1"/>
            <a:r>
              <a:rPr lang="en-US" dirty="0"/>
              <a:t>    </a:t>
            </a:r>
            <a:r>
              <a:rPr lang="en-US" i="1" dirty="0"/>
              <a:t># </a:t>
            </a:r>
            <a:r>
              <a:rPr lang="ru-RU" i="1" dirty="0"/>
              <a:t>Рекурсивный случай</a:t>
            </a:r>
            <a:endParaRPr lang="ru-RU" dirty="0"/>
          </a:p>
          <a:p>
            <a:pPr latinLnBrk="1"/>
            <a:r>
              <a:rPr lang="ru-RU" dirty="0"/>
              <a:t>    </a:t>
            </a:r>
            <a:r>
              <a:rPr lang="en-US" dirty="0"/>
              <a:t>else:</a:t>
            </a:r>
          </a:p>
          <a:p>
            <a:pPr latinLnBrk="1"/>
            <a:r>
              <a:rPr lang="en-US" dirty="0"/>
              <a:t>        return n * factorial(n - 1)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7014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864CB-65FD-B7C0-8071-462ACE9F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C1E25D5-596A-05D1-3194-6FD1C7ED2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306" y="1819997"/>
            <a:ext cx="7195894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693FA5-EC90-99AA-FC6B-B143C8E9E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12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7CAB7-2371-0991-BB25-EDB7D804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Ладно продолжаем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9D5B5F3-E0E1-75F6-2683-0BA25A7C60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193" y="1825625"/>
            <a:ext cx="761943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908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506A1-56C2-38E3-88D8-CA41EADA6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1 ПОЕХАЛИ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E59D1AC-EC06-3D9D-6228-133CBA61E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582" y="1690688"/>
            <a:ext cx="3696216" cy="4239217"/>
          </a:xfrm>
          <a:prstGeom prst="rect">
            <a:avLst/>
          </a:prstGeom>
        </p:spPr>
      </p:pic>
      <p:sp>
        <p:nvSpPr>
          <p:cNvPr id="6" name="AutoShape 2" descr="Picture background">
            <a:extLst>
              <a:ext uri="{FF2B5EF4-FFF2-40B4-BE49-F238E27FC236}">
                <a16:creationId xmlns:a16="http://schemas.microsoft.com/office/drawing/2014/main" id="{68DF44A8-F53F-A575-1A9B-DF21D20B05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4" descr="Picture background">
            <a:extLst>
              <a:ext uri="{FF2B5EF4-FFF2-40B4-BE49-F238E27FC236}">
                <a16:creationId xmlns:a16="http://schemas.microsoft.com/office/drawing/2014/main" id="{EE7F1B24-43EB-707C-2A7F-EFC0A267BF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6A451A-9F57-4DFE-FEE2-C6C4FF99B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965" y="0"/>
            <a:ext cx="5559035" cy="270163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032C12-7BCB-8ADD-0543-57F55B611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439948"/>
            <a:ext cx="1800476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13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91503A-5066-CD6F-3B6C-C2F8B4EB6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696" y="267139"/>
            <a:ext cx="4604558" cy="472204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ЗАДАНИЕ 2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B37D002-8CFC-2E5D-B05B-1A5D4F5D4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674" y="1077479"/>
            <a:ext cx="3179088" cy="4351338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3D5A0405-F0D9-0027-0A2B-EC80673F5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836" y="2903681"/>
            <a:ext cx="5338618" cy="300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23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038C1-0ED8-C11F-7328-A1096CAC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3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F3E4BD4-CCBA-149B-A5B6-548EF0A92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726" y="1400752"/>
            <a:ext cx="3971473" cy="43513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5FDBEF-D54A-931C-55EF-B68912FE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015" y="1400752"/>
            <a:ext cx="4344006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43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4ABC6-5885-4889-11AE-5E731234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4 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AC92C90-9B73-AA22-C648-7C5A257F8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8534"/>
            <a:ext cx="2924965" cy="43513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D8DBA1-2EFA-2D4A-D261-DA03EA583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165" y="283371"/>
            <a:ext cx="8428835" cy="307700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F5A57C2-C50F-2A0D-D09B-4148EABD8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960" y="4402627"/>
            <a:ext cx="3610479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14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01C24-CC39-150A-9ABD-CB0680BE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5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5416CC6-BE1B-8FFB-84AD-079638CD6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046" y="2317909"/>
            <a:ext cx="4505954" cy="288647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2636F2-AEA1-D315-93AF-C5BDFDB1A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8" y="2733578"/>
            <a:ext cx="5115639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3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D1C64-0240-00D9-F140-23B04827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СПАСИБОЛ ЗА ВНИМАНЧИК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1D2E1B1-4FDD-AADB-03D7-F852714AB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492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536</Words>
  <Application>Microsoft Office PowerPoint</Application>
  <PresentationFormat>Широкоэкранный</PresentationFormat>
  <Paragraphs>70</Paragraphs>
  <Slides>20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 РЕКУРСИИ В РЕАЛЬНОЙ ЖИЗНИ</vt:lpstr>
      <vt:lpstr>МАТРШКА</vt:lpstr>
      <vt:lpstr>ЗЕРКАЛА</vt:lpstr>
      <vt:lpstr>РЕКУРСИВАНЯ АЛГОРИМАША</vt:lpstr>
      <vt:lpstr>РЕКРСИВАНЯ ТРИАДА</vt:lpstr>
      <vt:lpstr>ПОЛНОЕ ДРЕВО РЕКУРСИИ</vt:lpstr>
      <vt:lpstr>7.Как называется область памяти, выделяемая для хранения всех промежуточных значений локальных переменных? Опишите ее.</vt:lpstr>
      <vt:lpstr>Презентация PowerPoint</vt:lpstr>
      <vt:lpstr>СПАСИБО ЗА ВНИМАНИЕ</vt:lpstr>
      <vt:lpstr>Ладно продолжаем</vt:lpstr>
      <vt:lpstr>Задание 1 ПОЕХАЛИ </vt:lpstr>
      <vt:lpstr>ЗАДАНИЕ 2</vt:lpstr>
      <vt:lpstr>ЗАДАНИЕ 3</vt:lpstr>
      <vt:lpstr>ЗАДАНИЕ 4 </vt:lpstr>
      <vt:lpstr>Задание 5</vt:lpstr>
      <vt:lpstr>СПАСИБОЛ ЗА ВНИМАНЧИК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Agmin</dc:creator>
  <cp:lastModifiedBy>tamagochi</cp:lastModifiedBy>
  <cp:revision>8</cp:revision>
  <dcterms:created xsi:type="dcterms:W3CDTF">2026-01-15T08:22:08Z</dcterms:created>
  <dcterms:modified xsi:type="dcterms:W3CDTF">2026-02-11T05:48:55Z</dcterms:modified>
</cp:coreProperties>
</file>